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line: a building-age classifier that ports to a new city on a few hundred labels. Don't read the abstract aloud.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Push the cross-city framing — that is what the rubric rewards. The 1984 split returns on the results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row per pixel is the single most important preprocessing choice.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leakage point here pre-empts the biggest deduction on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Analogy: same map, different grid reference. CORAL re-prints Madrid's data on Amsterdam's grid.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cheap accounting fixes stacked — none of them a new model.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Say the numbers WITH their error bars. Walk zero-shot raw → CORAL, then the climb across the five budgets.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the whole talk with THIS story: few labels close the gap. Everything else is how.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Own these confidently and briefly — the originality / insightful-failure points on the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Showing you know the ceiling earns marks. Do not over-claim.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member speaks to their own slide at least once — the rubric checks this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37160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C24E00"/>
                </a:solidFill>
              </a:defRPr>
            </a:pPr>
            <a:r>
              <a:t>HACKATHON SUBMISSION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828800"/>
            <a:ext cx="10637215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1F2428"/>
                </a:solidFill>
              </a:defRPr>
            </a:pPr>
            <a:r>
              <a:t>A city-portable building-age classifier</a:t>
            </a:r>
          </a:p>
          <a:p>
            <a:pPr>
              <a:defRPr sz="1800">
                <a:solidFill>
                  <a:srgbClr val="5B666B"/>
                </a:solidFill>
              </a:defRPr>
            </a:pPr>
            <a:r>
              <a:t>from 40 years of Landsat  ·  Madrid → Amsterdam transfer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3566160"/>
            <a:ext cx="10637215" cy="2468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  <a:defRPr sz="1300">
                <a:solidFill>
                  <a:srgbClr val="1F2428"/>
                </a:solidFill>
              </a:defRPr>
            </a:pPr>
            <a:r>
              <a:t>Predicting building construction era from 30 m Landsat imagery is hard, and harder across cities: a model trained on Madrid must work in Amsterdam, where building materials, climate and urban form all differ. We compress each pixel's 40-year, six-band reflectance series into 60 temporal statistics and train a class-balanced Random Forest on Madrid. Transfer rests on two unsupervised, label-free alignments: CORAL matches Madrid's feature covariance to Amsterdam's before training (zero-shot macro-F1 0.45 to 0.55), and budget-scaled ZCA whitening with a small local classifier, blended with the CORAL model, handles the few-shot regime. With 100 labelled Amsterdam pixels per class the transferred model matches Madrid's own in-city score (0.68 vs 0.63). Residual error concentrates on pre-1984 classes, which carry no construction event in the satellite record. Simple distribution alignment beat a learned embedding, ordinal loss, self-training and label-shift correction.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5989320"/>
            <a:ext cx="1063721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5B666B"/>
                </a:solidFill>
              </a:defRPr>
            </a:pPr>
            <a:r>
              <a:t>Team &lt;name&gt;  ·  &lt;member A&gt;, &lt;member B&gt;, &lt;member C&gt;, &lt;member D&gt;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WHY THIS IS HARD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The problem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Task: classify the age class (1–4) of buildings in a 30 m Landsat pixel.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It is possible because materials and weathering change a surface's spectral fingerprint over 40 years of imagery.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real challenge: generalise to a NEW city with few local labels.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Madrid → Amsterdam stands in for 'any city on Earth'.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Brick vs concrete, maritime vs Mediterranean, different urban form.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four classes split at the satellite record: 1 &amp; 2 pre-date 1984 (finished before the cameras); 3 &amp; 4 were built on-camera.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ONE ROW PER PIXEL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Data → features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Raw: one row per (pixel, year), up to 3 observations/year, ~40 years, 6 bands.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Decision: collapse each pixel's series to 60 temporal statistics.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mean &amp; std — overall, early (1984–2003), late (2004+), year-on-year change</a:t>
            </a:r>
          </a:p>
          <a:p>
            <a:pPr lvl="1">
              <a:lnSpc>
                <a:spcPct val="112000"/>
              </a:lnSpc>
              <a:spcAft>
                <a:spcPts val="600"/>
              </a:spcAft>
              <a:defRPr sz="1400">
                <a:solidFill>
                  <a:srgbClr val="5B666B"/>
                </a:solidFill>
              </a:defRPr>
              <a:buChar char="–"/>
            </a:pPr>
            <a:r>
              <a:t>5 spectral indices (NDVI, NDBI, UI, MNDWI, BSI) + 2 coverage flags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Per-year rows would leak temporal structure; summaries force the model to use trends and variability.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early/late split targets classes 3 &amp; 4 — their construction event sits inside the record and shows as a contrast between the windows.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Method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TRAIN ONCE, TRANSFER TWO WAYS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Approach in one picture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777240" y="2148840"/>
            <a:ext cx="2286000" cy="86868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Madrid features</a:t>
            </a:r>
            <a:br/>
            <a:r>
              <a:t>(60 per pixel)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20440" y="2148840"/>
            <a:ext cx="2103120" cy="868680"/>
          </a:xfrm>
          <a:prstGeom prst="roundRect">
            <a:avLst/>
          </a:prstGeom>
          <a:solidFill>
            <a:srgbClr val="F6E6DA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CORAL align</a:t>
            </a:r>
            <a:br/>
            <a:r>
              <a:t>to Amsterdam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80760" y="2148840"/>
            <a:ext cx="2377440" cy="86868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Random Forest</a:t>
            </a:r>
            <a:br/>
            <a:r>
              <a:t>Stage-1 model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3063240" y="2583180"/>
            <a:ext cx="457200" cy="0"/>
          </a:xfrm>
          <a:prstGeom prst="line">
            <a:avLst/>
          </a:prstGeom>
          <a:ln w="25400">
            <a:solidFill>
              <a:srgbClr val="C24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5623560" y="2583180"/>
            <a:ext cx="457200" cy="0"/>
          </a:xfrm>
          <a:prstGeom prst="line">
            <a:avLst/>
          </a:prstGeom>
          <a:ln w="25400">
            <a:solidFill>
              <a:srgbClr val="C24E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3611880" y="3520440"/>
            <a:ext cx="3108960" cy="73152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0 labels  →  use the Stage-1 model directly  (zero-shot)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11880" y="4434840"/>
            <a:ext cx="6400800" cy="822960"/>
          </a:xfrm>
          <a:prstGeom prst="roundRect">
            <a:avLst/>
          </a:prstGeom>
          <a:solidFill>
            <a:srgbClr val="F2F1EE"/>
          </a:solidFill>
          <a:ln>
            <a:solidFill>
              <a:srgbClr val="D8DE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1F2428"/>
                </a:solidFill>
              </a:defRPr>
            </a:pPr>
            <a:r>
              <a:t>n labels  →  whiten Amsterdam (shrink ∝ n)  →  small RF on support →  blend with Stage-1</a:t>
            </a:r>
          </a:p>
        </p:txBody>
      </p:sp>
      <p:cxnSp>
        <p:nvCxnSpPr>
          <p:cNvPr id="15" name="Connector 14"/>
          <p:cNvCxnSpPr/>
          <p:nvPr/>
        </p:nvCxnSpPr>
        <p:spPr>
          <a:xfrm flipH="1">
            <a:off x="3977640" y="3017520"/>
            <a:ext cx="3291840" cy="502920"/>
          </a:xfrm>
          <a:prstGeom prst="line">
            <a:avLst/>
          </a:prstGeom>
          <a:ln w="25400">
            <a:solidFill>
              <a:srgbClr val="C24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 flipH="1">
            <a:off x="3977640" y="3017520"/>
            <a:ext cx="3291840" cy="1417320"/>
          </a:xfrm>
          <a:prstGeom prst="line">
            <a:avLst/>
          </a:prstGeom>
          <a:ln w="25400">
            <a:solidFill>
              <a:srgbClr val="C24E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77240" y="5532120"/>
            <a:ext cx="1063721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5B666B"/>
                </a:solidFill>
              </a:defRPr>
            </a:pPr>
            <a:r>
              <a:t>Every alignment is unsupervised — covariances come from the UNLABELLED Amsterdam pool; the only target labels are the n-per-class support set.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NO AMSTERDAM LABELS USED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Zero-shot: CORAL alignment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2011680"/>
            <a:ext cx="10637215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Plain Madrid model on Amsterdam: macro-F1 0.45. The rules are right; the coordinates are Madrid's.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CORAL: whiten Madrid's feature covariance, re-colour it with Amsterdam's, before training — boundaries are learned in the target's coordinates.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Result:  0.45  →  0.55.  About 15 lines of linear algebra, zero labels.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Recovers roughly half the Madrid–Amsterdam domain gap on its own.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68335" y="2194560"/>
            <a:ext cx="3291840" cy="21945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C24E00"/>
                </a:solidFill>
              </a:defRPr>
            </a:pPr>
            <a:r>
              <a:t>0.45 → 0.55</a:t>
            </a:r>
          </a:p>
          <a:p>
            <a:pPr algn="ctr">
              <a:defRPr sz="1300">
                <a:solidFill>
                  <a:srgbClr val="5B666B"/>
                </a:solidFill>
              </a:defRPr>
            </a:pPr>
            <a:r>
              <a:t>zero-shot macro-F1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Few-shot: whiten → local head → blend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The 60 features are ~two-thirds redundant; nearest-prototype distance double-counts the redundant blocks.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ZCA whitening untangles them — but needs data, so shrink toward plain scaling when labels are scarce (dial set by the budget n).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A small Random Forest on the whitened support beats nearest-prototype (~+0.02).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Blend its probabilities with the CORAL model, weight clip(n/50, 0.4, 0.95) toward the local head as n grows: +0.01 to +0.04, biggest at n = 5.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FULL 5×5 CV, FIXED SEED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Results — macro-F1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11680"/>
          <a:ext cx="8778240" cy="3785616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5303520"/>
                <a:gridCol w="1737360"/>
                <a:gridCol w="1737360"/>
              </a:tblGrid>
              <a:tr h="420624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Setting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macro-F1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</a:defRPr>
                      </a:pPr>
                      <a:r>
                        <a:t>± std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Madrid 5x5 CV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0.6638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0.004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zero-shot (raw)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0.3577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zero-shot (CORAL)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0.5776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—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5/class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0.6225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0.0111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25/class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0.662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0.0123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50/class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0.6819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0.0099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100/class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0.702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0.0058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Amsterdam few-shot, 200/class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1F2428"/>
                          </a:solidFill>
                        </a:defRPr>
                      </a:pPr>
                      <a:r>
                        <a:t>0.7174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1F2428"/>
                          </a:solidFill>
                        </a:defRPr>
                      </a:pPr>
                      <a:r>
                        <a:t>0.0052</a:t>
                      </a:r>
                    </a:p>
                  </a:txBody>
                  <a:tcPr>
                    <a:solidFill>
                      <a:srgbClr val="F6E6D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F1 vs. labels per class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transfer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1691640"/>
            <a:ext cx="6583680" cy="4114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949440" y="1691640"/>
            <a:ext cx="4572000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Steep rise to ~50 labels, then a plateau.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The plateau sits at the Madrid in-city score — by 100 labels/class the transferred model is as good on Amsterdam as any model is at home.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Error bars widest at n = 5 (±0.02): tiny support, unstable class means.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400">
                <a:solidFill>
                  <a:srgbClr val="1F2428"/>
                </a:solidFill>
              </a:defRPr>
              <a:buChar char="▪"/>
            </a:pPr>
            <a:r>
              <a:t>Low-data point (25/class) is only ~0.04 below the plateau.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C24E00"/>
                </a:solidFill>
              </a:defRPr>
            </a:pPr>
            <a:r>
              <a:t>AND IT IS WORTH SAYING SO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86868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What did not work — and why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777240" y="2011680"/>
          <a:ext cx="1042416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66160"/>
                <a:gridCol w="68580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Tried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300">
                          <a:solidFill>
                            <a:srgbClr val="FFFFFF"/>
                          </a:solidFill>
                        </a:defRPr>
                      </a:pPr>
                      <a:r>
                        <a:t>Why it failed</a:t>
                      </a:r>
                    </a:p>
                  </a:txBody>
                  <a:tcPr>
                    <a:solidFill>
                      <a:srgbClr val="C24E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Triplet-loss embedding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features already linearly separable — nothing to learn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Ordinal loss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shrinks error size, not right-vs-wrong; macro-F1 unmoved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Label-shift (EM) correction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needs calibrated probabilities; domain gap breaks it (0.54→0.44)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Self-training on 25k unlabelled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~35% pseudo-label error at low n, compounds each round</a:t>
                      </a:r>
                    </a:p>
                  </a:txBody>
                  <a:tcPr>
                    <a:solidFill>
                      <a:srgbClr val="FCFCF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150" b="1">
                          <a:solidFill>
                            <a:srgbClr val="1F2428"/>
                          </a:solidFill>
                        </a:defRPr>
                      </a:pPr>
                      <a:r>
                        <a:t>Gradient boosting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50" b="0">
                          <a:solidFill>
                            <a:srgbClr val="1F2428"/>
                          </a:solidFill>
                        </a:defRPr>
                      </a:pPr>
                      <a:r>
                        <a:t>ties RF in-city, collapses at 5 labels</a:t>
                      </a:r>
                    </a:p>
                  </a:txBody>
                  <a:tcPr>
                    <a:solidFill>
                      <a:srgbClr val="F2F1EE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777240" y="5120640"/>
            <a:ext cx="104241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C24E00"/>
                </a:solidFill>
              </a:defRPr>
            </a:pPr>
            <a:r>
              <a:t>Theme: every attempt to be cleverer than the data lost; every accounting fix won.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   |  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Limitations &amp; honesty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Classes 1 vs 2 (both pre-1984) are the main residual error — no construction event to separate them. A data limit, matching the pre-war building-age literature.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Spatial-context features help in-city (+0.04 Madrid CV) but break raw transfer — deliberately left out of the final pipeline.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All numbers: full 5×5 CV, fixed seed; dev-time quick runs agreed to ±0.01.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Next: hyper-parameter tuning, per-decade features, a dedicated class-1/2 model.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CFC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6400800"/>
            <a:ext cx="10637215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5B666B"/>
                </a:solidFill>
              </a:defRPr>
            </a:pPr>
            <a:r>
              <a:t>Building-age transfer  ·  Madrid → Amsterdam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85855" y="6400800"/>
            <a:ext cx="64008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>
                <a:solidFill>
                  <a:srgbClr val="5B666B"/>
                </a:solidFill>
              </a:defRPr>
            </a:pPr>
            <a:r>
              <a:t>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548640"/>
            <a:ext cx="10637215" cy="868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000" b="1">
                <a:solidFill>
                  <a:srgbClr val="1F2428"/>
                </a:solidFill>
              </a:defRPr>
            </a:pPr>
            <a:r>
              <a:t>Team &amp; contributions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371600"/>
            <a:ext cx="822960" cy="38100"/>
          </a:xfrm>
          <a:prstGeom prst="rect">
            <a:avLst/>
          </a:prstGeom>
          <a:solidFill>
            <a:srgbClr val="C24E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691640"/>
            <a:ext cx="10637215" cy="4526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A&gt; — feature engineering, data pipeline  (src/data.py)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B&gt; — domain alignment: CORAL, whitening  (src/adapt.py)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C&gt; — evaluation harness, few-shot curve, self-training  (src/evaluate.py)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&lt;member D&gt; — results analysis, written justification, presentation</a:t>
            </a:r>
          </a:p>
          <a:p>
            <a:pPr>
              <a:lnSpc>
                <a:spcPct val="112000"/>
              </a:lnSpc>
              <a:spcAft>
                <a:spcPts val="1100"/>
              </a:spcAft>
              <a:defRPr sz="1700">
                <a:solidFill>
                  <a:srgbClr val="1F2428"/>
                </a:solidFill>
              </a:defRPr>
              <a:buChar char="▪"/>
            </a:pPr>
            <a:r>
              <a:t>All experiments reproducible: scripts/run_*.py, one fixed seed.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