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a building-age classifier that ports to a new city on a few hundred labels. Don't read the abstract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seconds — name the seven beats so the audience can follow the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the cross-city framing — that is what the rubric rewards. The 1984 split returns on the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pixel is the single most important preprocessing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leakage point here pre-empts the biggest deduction on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same map, different grid reference. CORAL re-prints Madrid's data on Amsterdam's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cheap accounting fixes stacked — none of them a new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numbers WITH their error bars. Walk zero-shot raw → CORAL, then the climb across the five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the whole talk with THIS story: few labels close the gap. Everything else is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these confidently and briefly — the originality / insightful-failure points on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you know the ceiling earns marks. Do not over-claim.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member speaks to their own slide at least once — the rubric checks this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E00"/>
                </a:solidFill>
              </a:defRPr>
            </a:pPr>
            <a:r>
              <a:t>DATA SCIENCE HACKATHON  ·  CROSS-CITY BUILDING-AGE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37215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428"/>
                </a:solidFill>
              </a:defRPr>
            </a:pPr>
            <a:r>
              <a:t>A city-portable building-age classifier</a:t>
            </a:r>
          </a:p>
          <a:p>
            <a:pPr>
              <a:defRPr sz="1900">
                <a:solidFill>
                  <a:srgbClr val="5B666B"/>
                </a:solidFill>
              </a:defRPr>
            </a:pPr>
            <a:r>
              <a:t>from 40 years of Landsat  ·  Madrid → Amsterdam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66B"/>
                </a:solidFill>
              </a:defRPr>
            </a:pPr>
            <a:r>
              <a:t>Team &lt;name&gt;   ·   &lt;member A&gt;, &lt;member B&gt;, &lt;member C&gt;, &lt;member D&gt;   ·   &lt;date&gt;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94760"/>
            <a:ext cx="10637215" cy="237744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10180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4E00"/>
                </a:solidFill>
              </a:defRPr>
            </a:pPr>
            <a: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018001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defRPr sz="1150">
                <a:solidFill>
                  <a:srgbClr val="1F2428"/>
                </a:solidFill>
              </a:defRPr>
            </a:pPr>
            <a:r>
              <a:t>Predicting building construction era from 30 m Landsat imagery is hard, and harder across cities: a model trained on Madrid must work in Amsterdam, where building materials, climate and urban form all differ. We compress each pixel's 40-year, six-band reflectance series into per-pixel temporal statistics and train a class-balanced Random Forest on Madrid. Transfer rests on unsupervised, label-free alignment: class-conditional CORAL reshapes Madrid to Amsterdam one age class at a time, driven by the model's own pseudo-labels (zero-shot macro-F1 0.36 to 0.65). Budget-scaled ZCA whitening with a small local classifier, blended with the Stage-1 model and smoothed over map-neighbours, handles the few-shot regime. By 100 labelled Amsterdam pixels per class the transferred model reaches Madrid's own in-city score (0.71 vs 0.66). Residual error concentrates on pre-1984 classes, which carry no construction event in the satellite record. Simple distribution alignment beat a learned embedding, ordinal loss, self-training and gradient boosting.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1   </a:t>
            </a:r>
            <a:r>
              <a:rPr sz="2000">
                <a:solidFill>
                  <a:srgbClr val="1F2428"/>
                </a:solidFill>
              </a:rPr>
              <a:t>The problem &amp; the data</a:t>
            </a:r>
            <a:r>
              <a:rPr sz="1400">
                <a:solidFill>
                  <a:srgbClr val="5B666B"/>
                </a:solidFill>
              </a:rPr>
              <a:t>   —  why cross-city age estimation is hard</a:t>
            </a:r>
          </a:p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2   </a:t>
            </a:r>
            <a:r>
              <a:rPr sz="2000">
                <a:solidFill>
                  <a:srgbClr val="1F2428"/>
                </a:solidFill>
              </a:rPr>
              <a:t>Our approach</a:t>
            </a:r>
            <a:r>
              <a:rPr sz="1400">
                <a:solidFill>
                  <a:srgbClr val="5B666B"/>
                </a:solidFill>
              </a:rPr>
              <a:t>   —  train on Madrid, two routes into Amsterdam</a:t>
            </a:r>
          </a:p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3   </a:t>
            </a:r>
            <a:r>
              <a:rPr sz="2000">
                <a:solidFill>
                  <a:srgbClr val="1F2428"/>
                </a:solidFill>
              </a:rPr>
              <a:t>Zero-shot transfer — CORAL</a:t>
            </a:r>
            <a:r>
              <a:rPr sz="1400">
                <a:solidFill>
                  <a:srgbClr val="5B666B"/>
                </a:solidFill>
              </a:rPr>
              <a:t>   —  aligning the feature space, no labels</a:t>
            </a:r>
          </a:p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4   </a:t>
            </a:r>
            <a:r>
              <a:rPr sz="2000">
                <a:solidFill>
                  <a:srgbClr val="1F2428"/>
                </a:solidFill>
              </a:rPr>
              <a:t>Few-shot transfer</a:t>
            </a:r>
            <a:r>
              <a:rPr sz="1400">
                <a:solidFill>
                  <a:srgbClr val="5B666B"/>
                </a:solidFill>
              </a:rPr>
              <a:t>   —  whitening, budget-scaled, two models voting</a:t>
            </a:r>
          </a:p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5   </a:t>
            </a:r>
            <a:r>
              <a:rPr sz="2000">
                <a:solidFill>
                  <a:srgbClr val="1F2428"/>
                </a:solidFill>
              </a:rPr>
              <a:t>Results</a:t>
            </a:r>
            <a:r>
              <a:rPr sz="1400">
                <a:solidFill>
                  <a:srgbClr val="5B666B"/>
                </a:solidFill>
              </a:rPr>
              <a:t>   —  the F1 table and the label-budget curve</a:t>
            </a:r>
          </a:p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6   </a:t>
            </a:r>
            <a:r>
              <a:rPr sz="2000">
                <a:solidFill>
                  <a:srgbClr val="1F2428"/>
                </a:solidFill>
              </a:rPr>
              <a:t>What did not work</a:t>
            </a:r>
            <a:r>
              <a:rPr sz="1400">
                <a:solidFill>
                  <a:srgbClr val="5B666B"/>
                </a:solidFill>
              </a:rPr>
              <a:t>   —  five dead ends and why</a:t>
            </a:r>
          </a:p>
          <a:p>
            <a:pPr>
              <a:spcAft>
                <a:spcPts val="1400"/>
              </a:spcAft>
              <a:buNone/>
            </a:pPr>
            <a:r>
              <a:rPr b="1" sz="2000">
                <a:solidFill>
                  <a:srgbClr val="C24E00"/>
                </a:solidFill>
              </a:rPr>
              <a:t>7   </a:t>
            </a:r>
            <a:r>
              <a:rPr sz="2000">
                <a:solidFill>
                  <a:srgbClr val="1F2428"/>
                </a:solidFill>
              </a:rPr>
              <a:t>Limitations &amp; team</a:t>
            </a:r>
            <a:r>
              <a:rPr sz="1400">
                <a:solidFill>
                  <a:srgbClr val="5B666B"/>
                </a:solidFill>
              </a:rPr>
              <a:t>   —  the pre-1984 data limit; who did what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WHY THIS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Task: classify the age class (1–4) of buildings in a 30 m Landsat pixel.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It is possible because materials and weathering change a surface's spectral fingerprint over 40 years of imagery.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real challenge: generalise to a NEW city with few local labels.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Madrid → Amsterdam stands in for 'any city on Earth'.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Brick vs concrete, maritime vs Mediterranean, different urban form.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four classes split at the satellite record: 1 &amp; 2 pre-date 1984 (finished before the cameras); 3 &amp; 4 were built on-camera.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ONE ROW PER PIXEL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Data →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Raw: one row per (pixel, year), up to 3 observations/year, ~40 years, 6 bands.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Decision: collapse each pixel's series to 60 temporal statistics.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mean &amp; std — overall, early (1984–2003), late (2004+), year-on-year change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5 spectral indices (NDVI, NDBI, UI, MNDWI, BSI) + 2 coverage flags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Per-year rows would leak temporal structure; summaries force the model to use trends and variability.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early/late split targets classes 3 &amp; 4 — their construction event sits inside the record and shows as a contrast between the windows.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TRAIN ONCE, TRANSFER TWO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Approach in one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194560" cy="86868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Madrid features</a:t>
            </a:r>
            <a:br/>
            <a:r>
              <a:t>(108 per pixel)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48840"/>
            <a:ext cx="2468880" cy="868680"/>
          </a:xfrm>
          <a:prstGeom prst="roundRect">
            <a:avLst/>
          </a:prstGeom>
          <a:solidFill>
            <a:srgbClr val="F6E6DA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class-conditional CORAL</a:t>
            </a:r>
            <a:br/>
            <a:r>
              <a:t>align to Amsterdam</a:t>
            </a:r>
            <a:br/>
            <a:r>
              <a:t>(pseudo-labels, ×2)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2194560" cy="86868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Random Forest</a:t>
            </a:r>
            <a:br/>
            <a:r>
              <a:t>Stage-1 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2583180"/>
            <a:ext cx="457200" cy="0"/>
          </a:xfrm>
          <a:prstGeom prst="line">
            <a:avLst/>
          </a:prstGeom>
          <a:ln w="25400">
            <a:solidFill>
              <a:srgbClr val="C24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97880" y="2583180"/>
            <a:ext cx="365760" cy="0"/>
          </a:xfrm>
          <a:prstGeom prst="line">
            <a:avLst/>
          </a:prstGeom>
          <a:ln w="25400">
            <a:solidFill>
              <a:srgbClr val="C24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3474720"/>
            <a:ext cx="2926080" cy="73152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0 labels  →  Stage-1 model directly  (zero-shot ≈ 0.65)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389120"/>
            <a:ext cx="6583680" cy="86868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n labels  →  whiten Amsterdam (shrink ∝ n)  →  small RF on support  →  blend with Stage-1  →  smooth over map-neighbours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977640" y="3017520"/>
            <a:ext cx="3383280" cy="457200"/>
          </a:xfrm>
          <a:prstGeom prst="line">
            <a:avLst/>
          </a:prstGeom>
          <a:ln w="25400">
            <a:solidFill>
              <a:srgbClr val="C24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977640" y="3017520"/>
            <a:ext cx="3383280" cy="1371600"/>
          </a:xfrm>
          <a:prstGeom prst="line">
            <a:avLst/>
          </a:prstGeom>
          <a:ln w="25400">
            <a:solidFill>
              <a:srgbClr val="C24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53212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B666B"/>
                </a:solidFill>
              </a:defRPr>
            </a:pPr>
            <a:r>
              <a:t>Every alignment is unsupervised — covariances and pseudo-labels come from the UNLABELLED Amsterdam pool; the only true target labels are the n-per-class support set, used only on their own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NO AMSTERDAM LABELS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Zero-shot: class-conditional CORAL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Plain Madrid model on Amsterdam: macro-F1 0.36 — the rules are right, the coordinates are Madrid's.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CORAL: reshape Madrid's feature cloud to Amsterdam's before training. Class-conditional CORAL does it one age class at a time, using the model's own first guesses on unlabelled Amsterdam. Repeat twice.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Result:  0.36  →  0.58  (pooled)  →  0.65  (class-conditional).  Zero labels.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one method here that is genuinely novel, not assembled from known parts.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21945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24E00"/>
                </a:solidFill>
              </a:defRPr>
            </a:pPr>
            <a:r>
              <a:t>0.36 → 0.65</a:t>
            </a:r>
          </a:p>
          <a:p>
            <a:pPr algn="ctr">
              <a:defRPr sz="1300">
                <a:solidFill>
                  <a:srgbClr val="5B666B"/>
                </a:solidFill>
              </a:defRPr>
            </a:pPr>
            <a:r>
              <a:t>zero-shot macro-F1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Few-shot: whiten → local head → blend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60 features are ~two-thirds redundant; nearest-prototype distance double-counts the redundant blocks.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ZCA whitening untangles them — but needs data, so shrink toward plain scaling when labels are scarce (dial set by the budget n).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A small Random Forest on the whitened support beats nearest-prototype (~+0.02).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Blend its probabilities with the CORAL model, weight clip(n/50, 0.4, 0.95) toward the local head as n grows: +0.01 to +0.04, biggest at n =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FULL 5×5 CV, FIXED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Results — macro-F1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11680"/>
          <a:ext cx="8778240" cy="4206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3520"/>
                <a:gridCol w="1737360"/>
                <a:gridCol w="1737360"/>
              </a:tblGrid>
              <a:tr h="4206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± std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Madrid 5x5 CV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0.6638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zero-shot (raw)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0.3577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zero-shot (CORAL)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0.5776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zero-shot (class-cond CORAL)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0.6513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5/class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0.6514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0.0033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25/class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0.6656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0.0056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50/class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0.6927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0.0084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100/class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0.7094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0.0069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200/class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0.7259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0.0049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F1 vs. labels per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nsf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5836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691640"/>
            <a:ext cx="4572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Steep rise to ~50 labels, then it flattens.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By 100 labels/class (0.71) the transferred model reaches — and passes — Madrid's own in-city score (0.66).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Tight error bars: ±0.003 at n=5, ±0.008 at n=50.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Low-data point (25/class = 0.67) is ~0.06 below the plateau.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Caveat we disclose: ~80% of support pixels touch a query pixel on the map — part of the score is block-level proximity (see notes).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AND IT IS WORTH SAYING 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What did not work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1168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6858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Tried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it failed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Triplet-loss embedding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features already linearly separable — nothing to learn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Ordinal loss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shrinks error size, not right-vs-wrong; macro-F1 unmoved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Label-shift (EM) correction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needs calibrated probabilities; domain gap breaks it (0.54→0.44)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Self-training on 25k unlabelled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~35% pseudo-label error at low n, compounds each round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ties RF in-city, collapses at 5 labels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1206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24E00"/>
                </a:solidFill>
              </a:defRPr>
            </a:pPr>
            <a:r>
              <a:t>Theme: every attempt to be cleverer than the data lost; every accounting fix won.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Limitations &amp; honesty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Classes 1 vs 2 (both pre-1984) are the main residual error — no construction event to separate them. A data limit, matching the pre-war building-age literature.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Spatial-context features help in-city (+0.04 Madrid CV) but break raw transfer — deliberately left out of the final pipeline.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All numbers: full 5×5 CV, fixed seed; dev-time quick runs agreed to ±0.01.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Next: hyper-parameter tuning, per-decade features, a dedicated class-1/2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Team &amp;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A&gt; — feature engineering, data pipeline  (src/data.py)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B&gt; — domain alignment: CORAL, whitening  (src/adapt.py)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C&gt; — evaluation harness, few-shot curve, self-training  (src/evaluate.py)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D&gt; — results analysis, written justification, presentation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All experiments reproducible: scripts/run_*.py, one fixed seed.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